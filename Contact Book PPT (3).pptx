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3" r:id="rId7"/>
    <p:sldId id="265" r:id="rId8"/>
    <p:sldId id="264" r:id="rId9"/>
    <p:sldId id="261" r:id="rId10"/>
    <p:sldId id="262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7A8037-60E7-4E89-858E-4897FF00C03A}" type="datetimeFigureOut">
              <a:rPr lang="en-AU" smtClean="0"/>
              <a:t>17/04/2026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737782-F452-4154-94F4-A97B2CF67EE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30618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737782-F452-4154-94F4-A97B2CF67EEE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43030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534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6521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7908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4622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5043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092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014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0605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9902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0147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99424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235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9948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918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62855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02083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59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1845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7BCB2-D1C4-D869-6290-D561CF5390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749031"/>
            <a:ext cx="8791576" cy="2679970"/>
          </a:xfrm>
        </p:spPr>
        <p:txBody>
          <a:bodyPr>
            <a:normAutofit fontScale="90000"/>
          </a:bodyPr>
          <a:lstStyle/>
          <a:p>
            <a:br>
              <a:rPr lang="en-AU" dirty="0"/>
            </a:br>
            <a:br>
              <a:rPr lang="en-AU" dirty="0"/>
            </a:br>
            <a:br>
              <a:rPr lang="en-AU" dirty="0"/>
            </a:br>
            <a:br>
              <a:rPr lang="en-AU" dirty="0"/>
            </a:b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550E0B-F850-0443-D97F-8ADCA70E4B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4" y="749031"/>
            <a:ext cx="8791575" cy="5768501"/>
          </a:xfrm>
        </p:spPr>
        <p:txBody>
          <a:bodyPr>
            <a:normAutofit fontScale="92500" lnSpcReduction="10000"/>
          </a:bodyPr>
          <a:lstStyle/>
          <a:p>
            <a:r>
              <a:rPr lang="en-AU" dirty="0">
                <a:solidFill>
                  <a:schemeClr val="accent2"/>
                </a:solidFill>
                <a:latin typeface="Baskerville Old Face" panose="02020602080505020303" pitchFamily="18" charset="0"/>
              </a:rPr>
              <a:t>    </a:t>
            </a:r>
          </a:p>
          <a:p>
            <a:r>
              <a:rPr lang="en-AU" dirty="0">
                <a:solidFill>
                  <a:schemeClr val="accent2"/>
                </a:solidFill>
                <a:latin typeface="Baskerville Old Face" panose="02020602080505020303" pitchFamily="18" charset="0"/>
              </a:rPr>
              <a:t>                       </a:t>
            </a:r>
            <a:r>
              <a:rPr lang="en-AU" sz="5800" dirty="0">
                <a:solidFill>
                  <a:srgbClr val="FFFF00"/>
                </a:solidFill>
                <a:latin typeface="Baskerville Old Face" panose="02020602080505020303" pitchFamily="18" charset="0"/>
              </a:rPr>
              <a:t>CONTACT BOOK</a:t>
            </a:r>
          </a:p>
          <a:p>
            <a:r>
              <a:rPr lang="en-AU" sz="1600" dirty="0">
                <a:solidFill>
                  <a:srgbClr val="FFFF00"/>
                </a:solidFill>
                <a:latin typeface="Baskerville Old Face" panose="02020602080505020303" pitchFamily="18" charset="0"/>
              </a:rPr>
              <a:t>                                                          </a:t>
            </a:r>
            <a:r>
              <a:rPr lang="en-AU" dirty="0">
                <a:solidFill>
                  <a:schemeClr val="tx1"/>
                </a:solidFill>
                <a:latin typeface="Baskerville Old Face" panose="02020602080505020303" pitchFamily="18" charset="0"/>
              </a:rPr>
              <a:t> </a:t>
            </a:r>
          </a:p>
          <a:p>
            <a:r>
              <a:rPr lang="en-AU" dirty="0">
                <a:solidFill>
                  <a:schemeClr val="tx1"/>
                </a:solidFill>
                <a:latin typeface="Baskerville Old Face" panose="02020602080505020303" pitchFamily="18" charset="0"/>
              </a:rPr>
              <a:t>                                               </a:t>
            </a:r>
            <a:r>
              <a:rPr lang="en-AU" sz="2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team members:</a:t>
            </a:r>
          </a:p>
          <a:p>
            <a:r>
              <a:rPr lang="en-AU" dirty="0">
                <a:solidFill>
                  <a:schemeClr val="tx1"/>
                </a:solidFill>
                <a:latin typeface="Baskerville Old Face" panose="02020602080505020303" pitchFamily="18" charset="0"/>
              </a:rPr>
              <a:t>              </a:t>
            </a:r>
          </a:p>
          <a:p>
            <a:r>
              <a:rPr lang="en-AU" dirty="0">
                <a:solidFill>
                  <a:schemeClr val="tx1"/>
                </a:solidFill>
                <a:latin typeface="Baskerville Old Face" panose="02020602080505020303" pitchFamily="18" charset="0"/>
              </a:rPr>
              <a:t>               </a:t>
            </a:r>
            <a:r>
              <a:rPr lang="en-AU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grandhi</a:t>
            </a:r>
            <a:r>
              <a:rPr lang="en-A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 </a:t>
            </a:r>
            <a:r>
              <a:rPr lang="en-AU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A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 </a:t>
            </a:r>
            <a:r>
              <a:rPr lang="en-AU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sri</a:t>
            </a:r>
            <a:r>
              <a:rPr lang="en-A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karunya</a:t>
            </a:r>
            <a:r>
              <a:rPr lang="en-A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2400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- </a:t>
            </a:r>
            <a:r>
              <a:rPr lang="en-A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25A31a0575 (team lead)</a:t>
            </a:r>
          </a:p>
          <a:p>
            <a:r>
              <a:rPr lang="en-A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</a:t>
            </a:r>
            <a:r>
              <a:rPr lang="en-AU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polisetti</a:t>
            </a:r>
            <a:r>
              <a:rPr lang="en-A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sai</a:t>
            </a:r>
            <a:r>
              <a:rPr lang="en-A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vishali</a:t>
            </a:r>
            <a:r>
              <a:rPr lang="en-A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- 25a31a0594</a:t>
            </a:r>
          </a:p>
          <a:p>
            <a:r>
              <a:rPr lang="en-A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</a:t>
            </a:r>
            <a:r>
              <a:rPr lang="en-AU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Thathapudi</a:t>
            </a:r>
            <a:r>
              <a:rPr lang="en-A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devakoti</a:t>
            </a:r>
            <a:r>
              <a:rPr lang="en-A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- 25a31a05bb</a:t>
            </a:r>
          </a:p>
          <a:p>
            <a:r>
              <a:rPr lang="en-A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v </a:t>
            </a:r>
            <a:r>
              <a:rPr lang="en-AU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durga</a:t>
            </a:r>
            <a:r>
              <a:rPr lang="en-A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Prasanna  - 25a31a05bc  </a:t>
            </a:r>
          </a:p>
          <a:p>
            <a:r>
              <a:rPr lang="en-AU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</a:t>
            </a:r>
            <a:r>
              <a:rPr lang="en-AU" sz="54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</a:p>
          <a:p>
            <a:r>
              <a:rPr lang="en-AU" sz="5400" dirty="0">
                <a:solidFill>
                  <a:schemeClr val="tx1"/>
                </a:solidFill>
              </a:rPr>
              <a:t>              </a:t>
            </a:r>
          </a:p>
        </p:txBody>
      </p:sp>
    </p:spTree>
    <p:extLst>
      <p:ext uri="{BB962C8B-B14F-4D97-AF65-F5344CB8AC3E}">
        <p14:creationId xmlns:p14="http://schemas.microsoft.com/office/powerpoint/2010/main" val="4251944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C7690-F9AA-6C7E-525F-DF78AA124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710119"/>
            <a:ext cx="9905998" cy="1206230"/>
          </a:xfrm>
        </p:spPr>
        <p:txBody>
          <a:bodyPr/>
          <a:lstStyle/>
          <a:p>
            <a:r>
              <a:rPr lang="en-AU" dirty="0"/>
              <a:t>                       </a:t>
            </a:r>
            <a:r>
              <a:rPr lang="en-AU" sz="4800" dirty="0">
                <a:solidFill>
                  <a:schemeClr val="bg1"/>
                </a:solidFill>
              </a:rPr>
              <a:t>INTRODUCTION</a:t>
            </a:r>
            <a:r>
              <a:rPr lang="en-AU" dirty="0"/>
              <a:t>  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46949-1F18-2A3A-C2BE-F72F2AA423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451370"/>
            <a:ext cx="9905999" cy="3550595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Contact Book is used to store and manage personal or professional contact details such as names and phone numbers.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Traditional methods may become inefficient when handling large amounts of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Using a Linked List improves flexibility in storing contacts dynamically.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allows easy insertion, deletion, and searching of contacts without fixed memory size.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project implements a contact book system using linked list data structure for efficient data handling.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25504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2CC47-FBA2-B5F8-C4CB-B0D38E0AA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61482"/>
            <a:ext cx="9905998" cy="1206228"/>
          </a:xfrm>
        </p:spPr>
        <p:txBody>
          <a:bodyPr/>
          <a:lstStyle/>
          <a:p>
            <a:r>
              <a:rPr lang="en-AU" dirty="0"/>
              <a:t>                     </a:t>
            </a:r>
            <a:r>
              <a:rPr lang="en-AU" sz="4800" dirty="0">
                <a:solidFill>
                  <a:schemeClr val="bg1"/>
                </a:solidFill>
              </a:rPr>
              <a:t>CONCEPTS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685719-B323-BB26-1783-D31F60CBD0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451369"/>
            <a:ext cx="9905999" cy="3745149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Linked List Data Structure: Used to store contacts dynamically as nodes.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Node Structure:  Each node contains contact details (name, phone number) and a pointer to the next node.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Dynamic Memory Allocation: Memory is allocated during runtime for efficient usage.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Pointers: Used to link nodes and navigate through the list.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Traversal: Used to display and search contacts in the list.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Insertion Operation: Adding new contacts to the list.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Deletion Operation: Removing existing contacts from the list.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Searching Algorithm: Finding a contact by name or number.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854600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8988B-92A9-43A8-1AA3-39F754445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32297"/>
            <a:ext cx="9905998" cy="1225685"/>
          </a:xfrm>
        </p:spPr>
        <p:txBody>
          <a:bodyPr/>
          <a:lstStyle/>
          <a:p>
            <a:r>
              <a:rPr lang="en-AU" dirty="0"/>
              <a:t>                         </a:t>
            </a:r>
            <a:r>
              <a:rPr lang="en-AU" sz="4800" dirty="0">
                <a:solidFill>
                  <a:schemeClr val="bg1"/>
                </a:solidFill>
              </a:rPr>
              <a:t>IMPORTANCE</a:t>
            </a:r>
            <a:r>
              <a:rPr lang="en-AU" dirty="0"/>
              <a:t> </a:t>
            </a:r>
            <a:endParaRPr lang="en-AU" sz="4400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E8716-5251-C543-3F1B-3166F7655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577830"/>
            <a:ext cx="9905999" cy="321337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Provides an efficient way to store and manage contact details.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Allows dynamic memory usage, avoiding wastage of space.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Makes insertion and deletion of contacts easy and fast.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Enables quick searching of contacts when needed.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Overcomes limitations of static data structures like arrays.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Useful for real-world applications like phone directories and contact management systems.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60287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F32A7-D9F0-5317-2097-94DD634FD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729573"/>
            <a:ext cx="9905998" cy="1070043"/>
          </a:xfrm>
        </p:spPr>
        <p:txBody>
          <a:bodyPr>
            <a:normAutofit/>
          </a:bodyPr>
          <a:lstStyle/>
          <a:p>
            <a:r>
              <a:rPr lang="en-AU" sz="4800" dirty="0"/>
              <a:t>           </a:t>
            </a:r>
            <a:r>
              <a:rPr lang="en-AU" sz="4400" dirty="0">
                <a:solidFill>
                  <a:schemeClr val="bg1"/>
                </a:solidFill>
              </a:rPr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1DE42-C292-CED4-C56B-1227559686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86000"/>
            <a:ext cx="9905999" cy="3725694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project starts by creating an empty linked list to store contacts.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contact is stored as a node containing name, phone number, and a pointer to the next node.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Users can add new contacts, which are inserted into the linked list dynamically.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search operation traverses the list to find a contact by name or number.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delete operation removes a contact node and updates the links.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display function shows all stored contacts by traversing the list.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program continues to run until the user chooses to exit.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297051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B81DE-B943-A019-0845-614BBEA77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22570"/>
            <a:ext cx="9905998" cy="953311"/>
          </a:xfrm>
        </p:spPr>
        <p:txBody>
          <a:bodyPr>
            <a:normAutofit/>
          </a:bodyPr>
          <a:lstStyle/>
          <a:p>
            <a:r>
              <a:rPr lang="en-AU" sz="4800" dirty="0">
                <a:solidFill>
                  <a:schemeClr val="bg1"/>
                </a:solidFill>
              </a:rPr>
              <a:t>                     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16CB4-FF14-8F6C-1C71-E3354F189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038" y="2315182"/>
            <a:ext cx="9905999" cy="454281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1400" dirty="0"/>
              <a:t>Node* </a:t>
            </a:r>
            <a:r>
              <a:rPr lang="en-AU" sz="1400" dirty="0" err="1"/>
              <a:t>newNode</a:t>
            </a:r>
            <a:r>
              <a:rPr lang="en-AU" sz="1400" dirty="0"/>
              <a:t> = new Node();</a:t>
            </a:r>
          </a:p>
          <a:p>
            <a:pPr marL="0" indent="0">
              <a:buNone/>
            </a:pPr>
            <a:r>
              <a:rPr lang="en-AU" sz="1400" dirty="0" err="1"/>
              <a:t>newNode</a:t>
            </a:r>
            <a:r>
              <a:rPr lang="en-AU" sz="1400" dirty="0"/>
              <a:t>-&gt;next = NULL;</a:t>
            </a:r>
          </a:p>
          <a:p>
            <a:pPr marL="0" indent="0">
              <a:buNone/>
            </a:pPr>
            <a:r>
              <a:rPr lang="en-AU" sz="1400" dirty="0"/>
              <a:t>// Insert</a:t>
            </a:r>
          </a:p>
          <a:p>
            <a:pPr marL="0" indent="0">
              <a:buNone/>
            </a:pPr>
            <a:r>
              <a:rPr lang="en-AU" sz="1400" dirty="0"/>
              <a:t>if (!head) head = </a:t>
            </a:r>
            <a:r>
              <a:rPr lang="en-AU" sz="1400" dirty="0" err="1"/>
              <a:t>newNode</a:t>
            </a:r>
            <a:r>
              <a:rPr lang="en-AU" sz="1400" dirty="0"/>
              <a:t>;</a:t>
            </a:r>
          </a:p>
          <a:p>
            <a:pPr marL="0" indent="0">
              <a:buNone/>
            </a:pPr>
            <a:r>
              <a:rPr lang="en-AU" sz="1400" dirty="0"/>
              <a:t>else {    </a:t>
            </a:r>
          </a:p>
          <a:p>
            <a:pPr marL="0" indent="0">
              <a:buNone/>
            </a:pPr>
            <a:r>
              <a:rPr lang="en-AU" sz="1400" dirty="0"/>
              <a:t>Node* temp = head;   </a:t>
            </a:r>
          </a:p>
          <a:p>
            <a:pPr marL="0" indent="0">
              <a:buNone/>
            </a:pPr>
            <a:r>
              <a:rPr lang="en-AU" sz="1400" dirty="0"/>
              <a:t> while (temp-&gt;next) temp = </a:t>
            </a:r>
          </a:p>
          <a:p>
            <a:pPr marL="0" indent="0">
              <a:buNone/>
            </a:pPr>
            <a:r>
              <a:rPr lang="en-AU" sz="1400" dirty="0"/>
              <a:t>temp-&gt;next;    </a:t>
            </a:r>
          </a:p>
          <a:p>
            <a:pPr marL="0" indent="0">
              <a:buNone/>
            </a:pPr>
            <a:r>
              <a:rPr lang="en-AU" sz="1400" dirty="0"/>
              <a:t>temp-&gt;next = </a:t>
            </a:r>
            <a:r>
              <a:rPr lang="en-AU" sz="1400" dirty="0" err="1"/>
              <a:t>newNode</a:t>
            </a:r>
            <a:r>
              <a:rPr lang="en-AU" sz="1400" dirty="0"/>
              <a:t>;</a:t>
            </a:r>
          </a:p>
          <a:p>
            <a:pPr marL="0" indent="0">
              <a:buNone/>
            </a:pPr>
            <a:r>
              <a:rPr lang="en-AU" sz="1400" dirty="0"/>
              <a:t>}</a:t>
            </a:r>
          </a:p>
          <a:p>
            <a:pPr marL="0" indent="0">
              <a:buNone/>
            </a:pPr>
            <a:r>
              <a:rPr lang="en-AU" sz="1400" dirty="0"/>
              <a:t>// Traverse</a:t>
            </a:r>
          </a:p>
          <a:p>
            <a:pPr marL="0" indent="0">
              <a:buNone/>
            </a:pPr>
            <a:r>
              <a:rPr lang="en-AU" sz="1400" dirty="0"/>
              <a:t>Node* temp = head;</a:t>
            </a:r>
          </a:p>
          <a:p>
            <a:pPr marL="0" indent="0">
              <a:buNone/>
            </a:pPr>
            <a:r>
              <a:rPr lang="en-AU" sz="1400" dirty="0"/>
              <a:t>while (temp) temp = temp-&gt;next;</a:t>
            </a:r>
          </a:p>
        </p:txBody>
      </p:sp>
    </p:spTree>
    <p:extLst>
      <p:ext uri="{BB962C8B-B14F-4D97-AF65-F5344CB8AC3E}">
        <p14:creationId xmlns:p14="http://schemas.microsoft.com/office/powerpoint/2010/main" val="3835502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35DA9-720C-39E6-75E6-F4BC0CFE30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959" y="2315182"/>
            <a:ext cx="8825659" cy="4309353"/>
          </a:xfrm>
        </p:spPr>
        <p:txBody>
          <a:bodyPr/>
          <a:lstStyle/>
          <a:p>
            <a:pPr marL="0" indent="0">
              <a:buNone/>
            </a:pPr>
            <a:r>
              <a:rPr lang="en-AU" dirty="0"/>
              <a:t>// Search</a:t>
            </a:r>
          </a:p>
          <a:p>
            <a:pPr marL="0" indent="0">
              <a:buNone/>
            </a:pPr>
            <a:r>
              <a:rPr lang="en-AU" dirty="0"/>
              <a:t>temp = head;  </a:t>
            </a:r>
          </a:p>
          <a:p>
            <a:pPr marL="0" indent="0">
              <a:buNone/>
            </a:pPr>
            <a:r>
              <a:rPr lang="en-AU" dirty="0"/>
              <a:t> // </a:t>
            </a:r>
            <a:r>
              <a:rPr lang="en-AU" dirty="0" err="1"/>
              <a:t>resetwhile</a:t>
            </a:r>
            <a:r>
              <a:rPr lang="en-AU" dirty="0"/>
              <a:t> (temp) </a:t>
            </a:r>
          </a:p>
          <a:p>
            <a:pPr marL="0" indent="0">
              <a:buNone/>
            </a:pPr>
            <a:r>
              <a:rPr lang="en-AU" dirty="0"/>
              <a:t>{   </a:t>
            </a:r>
          </a:p>
          <a:p>
            <a:pPr marL="0" indent="0">
              <a:buNone/>
            </a:pPr>
            <a:r>
              <a:rPr lang="en-AU" dirty="0"/>
              <a:t> if (temp-&gt;name == key) break;   </a:t>
            </a:r>
          </a:p>
          <a:p>
            <a:pPr marL="0" indent="0">
              <a:buNone/>
            </a:pPr>
            <a:r>
              <a:rPr lang="en-AU" dirty="0"/>
              <a:t> temp = temp-&gt;next;</a:t>
            </a:r>
          </a:p>
          <a:p>
            <a:pPr marL="0" indent="0">
              <a:buNone/>
            </a:pPr>
            <a:r>
              <a:rPr lang="en-AU" dirty="0"/>
              <a:t>}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529121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2CC25-1C40-00B6-D806-068F16DFB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14009"/>
            <a:ext cx="9905998" cy="1643974"/>
          </a:xfrm>
        </p:spPr>
        <p:txBody>
          <a:bodyPr/>
          <a:lstStyle/>
          <a:p>
            <a:r>
              <a:rPr lang="en-AU" dirty="0"/>
              <a:t>                            </a:t>
            </a:r>
            <a:r>
              <a:rPr lang="en-AU" sz="4800" dirty="0">
                <a:solidFill>
                  <a:schemeClr val="bg1"/>
                </a:solidFill>
              </a:rPr>
              <a:t>OUTPUT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68C32D8-FBC0-3C08-E0AD-C370F4D8C2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1413" y="2480553"/>
            <a:ext cx="8926715" cy="3929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7392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4EC0-B997-4AEA-5EC0-816F45F9D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34" y="661482"/>
            <a:ext cx="9905998" cy="1206229"/>
          </a:xfrm>
        </p:spPr>
        <p:txBody>
          <a:bodyPr/>
          <a:lstStyle/>
          <a:p>
            <a:r>
              <a:rPr lang="en-AU" dirty="0"/>
              <a:t>                      </a:t>
            </a:r>
            <a:r>
              <a:rPr lang="en-AU" sz="4800" dirty="0">
                <a:solidFill>
                  <a:schemeClr val="bg1"/>
                </a:solidFill>
              </a:rPr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D8076-61DF-E1F9-EE69-5453A4E476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675106"/>
            <a:ext cx="9905999" cy="3116095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Dynamic size – no need to define memory size in advance.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Efficient insertion and deletion without shifting elements.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Better memory utilization compared to arrays.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Easy to manage and update contact details.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Flexible structure suitable for growing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Simplifies implementation of search and display operations.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17520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10948-67C0-95DE-1EEE-8D399C1A3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437745"/>
            <a:ext cx="9905998" cy="1585607"/>
          </a:xfrm>
        </p:spPr>
        <p:txBody>
          <a:bodyPr/>
          <a:lstStyle/>
          <a:p>
            <a:r>
              <a:rPr lang="en-AU" dirty="0"/>
              <a:t>                      </a:t>
            </a:r>
            <a:r>
              <a:rPr lang="en-AU" sz="4800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99BC8-BE1E-419E-0BF8-93CEB84F1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509736"/>
            <a:ext cx="9905999" cy="3281465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contact book using linked list is an efficient way to manage contacts.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allows dynamic storage and easy modification of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Searching, insertion, and deletion operations are simple and effective.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project helps understand the practical use of linked list data structure.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can be further improved by adding sorting and file storage features.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417136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32934-2E8E-6E02-0C74-682B691E5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1498060"/>
            <a:ext cx="9243914" cy="4503906"/>
          </a:xfrm>
        </p:spPr>
        <p:txBody>
          <a:bodyPr/>
          <a:lstStyle/>
          <a:p>
            <a:r>
              <a:rPr lang="en-AU" dirty="0"/>
              <a:t>              </a:t>
            </a:r>
            <a:r>
              <a:rPr lang="en-AU" sz="7200" dirty="0">
                <a:solidFill>
                  <a:schemeClr val="accent1">
                    <a:lumMod val="75000"/>
                  </a:schemeClr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5665170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115</TotalTime>
  <Words>621</Words>
  <Application>Microsoft Office PowerPoint</Application>
  <PresentationFormat>Widescreen</PresentationFormat>
  <Paragraphs>79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Baskerville Old Face</vt:lpstr>
      <vt:lpstr>Calibri</vt:lpstr>
      <vt:lpstr>Century Gothic</vt:lpstr>
      <vt:lpstr>Wingdings 3</vt:lpstr>
      <vt:lpstr>Ion Boardroom</vt:lpstr>
      <vt:lpstr>    </vt:lpstr>
      <vt:lpstr>                       INTRODUCTION     </vt:lpstr>
      <vt:lpstr>                     CONCEPTS USED</vt:lpstr>
      <vt:lpstr>                         IMPORTANCE </vt:lpstr>
      <vt:lpstr>           SYSTEM ARCHITECTURE</vt:lpstr>
      <vt:lpstr>                      CODE</vt:lpstr>
      <vt:lpstr>PowerPoint Presentation</vt:lpstr>
      <vt:lpstr>                            OUTPUT</vt:lpstr>
      <vt:lpstr>                      ADVANTAGES</vt:lpstr>
      <vt:lpstr>                      CONCLUSION</vt:lpstr>
      <vt:lpstr>            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Veera Grandhi</dc:creator>
  <cp:lastModifiedBy>Veera Grandhi</cp:lastModifiedBy>
  <cp:revision>6</cp:revision>
  <dcterms:created xsi:type="dcterms:W3CDTF">2026-04-15T12:04:16Z</dcterms:created>
  <dcterms:modified xsi:type="dcterms:W3CDTF">2026-04-17T16:04:28Z</dcterms:modified>
</cp:coreProperties>
</file>